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ay Bormale" userId="593888c1ba9dfa9e" providerId="LiveId" clId="{FEEF4C80-5A0C-443B-BB8C-C69340EB3646}"/>
    <pc:docChg chg="modSld">
      <pc:chgData name="Abhay Bormale" userId="593888c1ba9dfa9e" providerId="LiveId" clId="{FEEF4C80-5A0C-443B-BB8C-C69340EB3646}" dt="2026-10-20T17:25:47.001" v="144" actId="20577"/>
      <pc:docMkLst>
        <pc:docMk/>
      </pc:docMkLst>
      <pc:sldChg chg="modSp mod">
        <pc:chgData name="Abhay Bormale" userId="593888c1ba9dfa9e" providerId="LiveId" clId="{FEEF4C80-5A0C-443B-BB8C-C69340EB3646}" dt="2026-10-20T17:24:58.102" v="88" actId="20577"/>
        <pc:sldMkLst>
          <pc:docMk/>
          <pc:sldMk cId="0" sldId="256"/>
        </pc:sldMkLst>
        <pc:spChg chg="mod">
          <ac:chgData name="Abhay Bormale" userId="593888c1ba9dfa9e" providerId="LiveId" clId="{FEEF4C80-5A0C-443B-BB8C-C69340EB3646}" dt="2026-10-20T17:23:54.126" v="18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Abhay Bormale" userId="593888c1ba9dfa9e" providerId="LiveId" clId="{FEEF4C80-5A0C-443B-BB8C-C69340EB3646}" dt="2026-10-20T17:24:58.102" v="88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Abhay Bormale" userId="593888c1ba9dfa9e" providerId="LiveId" clId="{FEEF4C80-5A0C-443B-BB8C-C69340EB3646}" dt="2026-10-20T17:23:59.191" v="24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Abhay Bormale" userId="593888c1ba9dfa9e" providerId="LiveId" clId="{FEEF4C80-5A0C-443B-BB8C-C69340EB3646}" dt="2026-10-20T17:25:16.423" v="96" actId="20577"/>
        <pc:sldMkLst>
          <pc:docMk/>
          <pc:sldMk cId="0" sldId="257"/>
        </pc:sldMkLst>
        <pc:spChg chg="mod">
          <ac:chgData name="Abhay Bormale" userId="593888c1ba9dfa9e" providerId="LiveId" clId="{FEEF4C80-5A0C-443B-BB8C-C69340EB3646}" dt="2026-10-20T17:25:16.423" v="96" actId="20577"/>
          <ac:spMkLst>
            <pc:docMk/>
            <pc:sldMk cId="0" sldId="257"/>
            <ac:spMk id="6" creationId="{00000000-0000-0000-0000-000000000000}"/>
          </ac:spMkLst>
        </pc:spChg>
      </pc:sldChg>
      <pc:sldChg chg="modSp mod">
        <pc:chgData name="Abhay Bormale" userId="593888c1ba9dfa9e" providerId="LiveId" clId="{FEEF4C80-5A0C-443B-BB8C-C69340EB3646}" dt="2026-10-20T17:25:23.917" v="104" actId="20577"/>
        <pc:sldMkLst>
          <pc:docMk/>
          <pc:sldMk cId="0" sldId="258"/>
        </pc:sldMkLst>
        <pc:spChg chg="mod">
          <ac:chgData name="Abhay Bormale" userId="593888c1ba9dfa9e" providerId="LiveId" clId="{FEEF4C80-5A0C-443B-BB8C-C69340EB3646}" dt="2026-10-20T17:25:23.917" v="104" actId="20577"/>
          <ac:spMkLst>
            <pc:docMk/>
            <pc:sldMk cId="0" sldId="258"/>
            <ac:spMk id="6" creationId="{00000000-0000-0000-0000-000000000000}"/>
          </ac:spMkLst>
        </pc:spChg>
      </pc:sldChg>
      <pc:sldChg chg="modSp mod">
        <pc:chgData name="Abhay Bormale" userId="593888c1ba9dfa9e" providerId="LiveId" clId="{FEEF4C80-5A0C-443B-BB8C-C69340EB3646}" dt="2026-10-20T17:25:28.074" v="112" actId="20577"/>
        <pc:sldMkLst>
          <pc:docMk/>
          <pc:sldMk cId="0" sldId="259"/>
        </pc:sldMkLst>
        <pc:spChg chg="mod">
          <ac:chgData name="Abhay Bormale" userId="593888c1ba9dfa9e" providerId="LiveId" clId="{FEEF4C80-5A0C-443B-BB8C-C69340EB3646}" dt="2026-10-20T17:25:28.074" v="112" actId="20577"/>
          <ac:spMkLst>
            <pc:docMk/>
            <pc:sldMk cId="0" sldId="259"/>
            <ac:spMk id="6" creationId="{00000000-0000-0000-0000-000000000000}"/>
          </ac:spMkLst>
        </pc:spChg>
      </pc:sldChg>
      <pc:sldChg chg="modSp mod">
        <pc:chgData name="Abhay Bormale" userId="593888c1ba9dfa9e" providerId="LiveId" clId="{FEEF4C80-5A0C-443B-BB8C-C69340EB3646}" dt="2026-10-20T17:25:32.911" v="120" actId="20577"/>
        <pc:sldMkLst>
          <pc:docMk/>
          <pc:sldMk cId="0" sldId="260"/>
        </pc:sldMkLst>
        <pc:spChg chg="mod">
          <ac:chgData name="Abhay Bormale" userId="593888c1ba9dfa9e" providerId="LiveId" clId="{FEEF4C80-5A0C-443B-BB8C-C69340EB3646}" dt="2026-10-20T17:25:32.911" v="120" actId="20577"/>
          <ac:spMkLst>
            <pc:docMk/>
            <pc:sldMk cId="0" sldId="260"/>
            <ac:spMk id="6" creationId="{00000000-0000-0000-0000-000000000000}"/>
          </ac:spMkLst>
        </pc:spChg>
      </pc:sldChg>
      <pc:sldChg chg="modSp mod">
        <pc:chgData name="Abhay Bormale" userId="593888c1ba9dfa9e" providerId="LiveId" clId="{FEEF4C80-5A0C-443B-BB8C-C69340EB3646}" dt="2026-10-20T17:25:38.227" v="128" actId="20577"/>
        <pc:sldMkLst>
          <pc:docMk/>
          <pc:sldMk cId="0" sldId="261"/>
        </pc:sldMkLst>
        <pc:spChg chg="mod">
          <ac:chgData name="Abhay Bormale" userId="593888c1ba9dfa9e" providerId="LiveId" clId="{FEEF4C80-5A0C-443B-BB8C-C69340EB3646}" dt="2026-10-20T17:25:38.227" v="128" actId="20577"/>
          <ac:spMkLst>
            <pc:docMk/>
            <pc:sldMk cId="0" sldId="261"/>
            <ac:spMk id="6" creationId="{00000000-0000-0000-0000-000000000000}"/>
          </ac:spMkLst>
        </pc:spChg>
      </pc:sldChg>
      <pc:sldChg chg="modSp mod">
        <pc:chgData name="Abhay Bormale" userId="593888c1ba9dfa9e" providerId="LiveId" clId="{FEEF4C80-5A0C-443B-BB8C-C69340EB3646}" dt="2026-10-20T17:25:42.996" v="136" actId="20577"/>
        <pc:sldMkLst>
          <pc:docMk/>
          <pc:sldMk cId="0" sldId="262"/>
        </pc:sldMkLst>
        <pc:spChg chg="mod">
          <ac:chgData name="Abhay Bormale" userId="593888c1ba9dfa9e" providerId="LiveId" clId="{FEEF4C80-5A0C-443B-BB8C-C69340EB3646}" dt="2026-10-20T17:25:42.996" v="136" actId="20577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Abhay Bormale" userId="593888c1ba9dfa9e" providerId="LiveId" clId="{FEEF4C80-5A0C-443B-BB8C-C69340EB3646}" dt="2026-10-20T17:25:47.001" v="144" actId="20577"/>
        <pc:sldMkLst>
          <pc:docMk/>
          <pc:sldMk cId="0" sldId="263"/>
        </pc:sldMkLst>
        <pc:spChg chg="mod">
          <ac:chgData name="Abhay Bormale" userId="593888c1ba9dfa9e" providerId="LiveId" clId="{FEEF4C80-5A0C-443B-BB8C-C69340EB3646}" dt="2026-10-20T17:25:47.001" v="144" actId="20577"/>
          <ac:spMkLst>
            <pc:docMk/>
            <pc:sldMk cId="0" sldId="263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7868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workshop problem: keep requests, assignments, progress and repair costs in one application. Suggested delivery: 7–9 minutes. Current functionality and future design proposals are distinguished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Customer: request, track and view bills. Admin: approve, assign, set costs and manage staff. Mechanic: view assignments and update progress. Diagram shows intended progression; the application has status choices but no strict transition state machine. Source: vehicle/models.py, forms.py and views.py.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Logical layers belong to one deployable monolith. Django uses Model–Template–View: models store data, templates present it, and views plus URL routing handle controller responsibilities. No separate workflow service layer exists. Sources: vehicleservicemanagement/urls.py; vehicle/views.py, forms.py and models.py.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Customer and Mechanic have one-to-one links to User. Request has nullable customer and mechanic foreign keys; Attendance references Mechanic. Feedback.by is plain text. There is no separate Vehicle or Invoice entity. Source: vehicle/models.py. Future improvements: text registration numbers, decimal currency and safer history retention.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versioned JSON API and gateway are proposals. Validate ownership, role permissions and repair transitions. React is an option for richer interfaces; HTMx can refresh HTML fragments within the existing templates. Stripe illustrates resource APIs and idempotency; GitHub illustrates explicit API versioning. References: https://react.dev/learn ; https://htmx.org/docs/ ; https://docs.stripe.com/api ; https://docs.github.com/en/rest/about-the-rest-api/api-versions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current app is synchronous and monolithic. Proposed RepairCompleted events support background notifications. Consumers need idempotency, retries and failure handling. SOA separates capabilities through contracts; microservices add independent deployment and owned data. Keep the monolith for the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Vertical scaling adds CPU/RAM; horizontal scaling adds instances behind a load balancer. Shared sessions/media are needed. Cache user-scoped summaries and invalidate after writes; do not publicly cache invoices. Quality priorities: role/object authorization, workflow functions and tests, DEBUG=False, explicit hosts, external secrets and HTTPS. These are proposed improvements, not completed fixes. No benchmark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Only Django MTV is represented in the current structure. The other five patterns are conceptual refactorings. Singleton is per process, not a shared database connection or a global instance across servers. Factory creates an object; Strategy selects interchangeable behavior. Individual editable pattern diagrams are included in the draw.io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Production deployment is a proposal. HTTPS reverse proxy routes to Django served by a production WSGI server. Database and media persist outside disposable containers. Shared cache/sessions support multiple instances. Back up persistent data. End-to-end trace: requirements → objects → tables → workflow → UI/API → deployment. Reference: https://docs.docker.com/get-started/docker-concepts/the-basics/what-is-a-container/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ADR-001 is a presentation draft, not an implemented architecture change. AI can check topic coverage, suggest design reviews and draft documentation; human verification is required. All 29 chapter diagrams are supplied as editable draw.io files. Credits: upstream project Sumit Kumar / LazyCoder; dashboard UI Tran Anh Tuat, as listed in README.md. Source evidence is the local repository; framework links in notes are further reading.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67D8D"/>
                </a:solidFill>
                <a:latin typeface="Arial"/>
              </a:defRPr>
            </a:pPr>
            <a:r>
              <a:rPr dirty="0"/>
              <a:t>PROJECT PRESENTATION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8324B"/>
                </a:solidFill>
                <a:latin typeface="Arial"/>
              </a:defRPr>
            </a:pPr>
            <a:r>
              <a:t>Vehicle Repair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1060704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8324B"/>
                </a:solidFill>
                <a:latin typeface="Arial"/>
              </a:defRPr>
            </a:pPr>
            <a:r>
              <a:rPr dirty="0"/>
              <a:t>A simple portal for repair requests, progress and bills.</a:t>
            </a:r>
          </a:p>
          <a:p>
            <a:pPr>
              <a:spcAft>
                <a:spcPts val="1400"/>
              </a:spcAft>
              <a:defRPr sz="2400" b="0">
                <a:solidFill>
                  <a:srgbClr val="18324B"/>
                </a:solidFill>
                <a:latin typeface="Arial"/>
              </a:defRPr>
            </a:pPr>
            <a:r>
              <a:rPr dirty="0"/>
              <a:t>Three roles: Customer, Admin and Mechanic.</a:t>
            </a:r>
          </a:p>
          <a:p>
            <a:pPr>
              <a:spcAft>
                <a:spcPts val="1400"/>
              </a:spcAft>
              <a:defRPr sz="2400" b="0">
                <a:solidFill>
                  <a:srgbClr val="18324B"/>
                </a:solidFill>
                <a:latin typeface="Arial"/>
              </a:defRPr>
            </a:pPr>
            <a:r>
              <a:rPr dirty="0"/>
              <a:t>Built with Python, Django, SQLite and HTML/CSS/JavaScript.</a:t>
            </a:r>
          </a:p>
          <a:p>
            <a:pPr>
              <a:spcAft>
                <a:spcPts val="1400"/>
              </a:spcAft>
              <a:defRPr sz="2400" b="0">
                <a:solidFill>
                  <a:srgbClr val="18324B"/>
                </a:solidFill>
                <a:latin typeface="Arial"/>
              </a:defRPr>
            </a:pPr>
            <a:r>
              <a:rPr dirty="0"/>
              <a:t>Presented by </a:t>
            </a:r>
            <a:endParaRPr lang="en-US" dirty="0"/>
          </a:p>
          <a:p>
            <a:pPr>
              <a:spcAft>
                <a:spcPts val="1400"/>
              </a:spcAft>
              <a:defRPr sz="2400" b="0">
                <a:solidFill>
                  <a:srgbClr val="18324B"/>
                </a:solidFill>
                <a:latin typeface="Arial"/>
              </a:defRPr>
            </a:pPr>
            <a:r>
              <a:rPr dirty="0"/>
              <a:t>Abhay </a:t>
            </a:r>
            <a:r>
              <a:rPr lang="en-US" dirty="0"/>
              <a:t>123B1D057</a:t>
            </a:r>
          </a:p>
          <a:p>
            <a:pPr>
              <a:spcAft>
                <a:spcPts val="1400"/>
              </a:spcAft>
              <a:defRPr sz="2400" b="0">
                <a:solidFill>
                  <a:srgbClr val="18324B"/>
                </a:solidFill>
                <a:latin typeface="Arial"/>
              </a:defRPr>
            </a:pPr>
            <a:r>
              <a:rPr lang="en-US" dirty="0"/>
              <a:t>Yadnesh 123B1D034</a:t>
            </a:r>
          </a:p>
          <a:p>
            <a:pPr>
              <a:spcAft>
                <a:spcPts val="1400"/>
              </a:spcAft>
              <a:defRPr sz="2400" b="0">
                <a:solidFill>
                  <a:srgbClr val="18324B"/>
                </a:solidFill>
                <a:latin typeface="Arial"/>
              </a:defRPr>
            </a:pPr>
            <a:r>
              <a:rPr lang="en-US" dirty="0"/>
              <a:t>Anushka  123B1D027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332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167D8D"/>
                </a:solidFill>
                <a:latin typeface="Arial"/>
              </a:defRPr>
            </a:pPr>
            <a:r>
              <a:rPr dirty="0"/>
              <a:t>Vehicle Repair Management System  |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167D8D"/>
                </a:solidFill>
                <a:latin typeface="Arial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67D8D"/>
                </a:solidFill>
                <a:latin typeface="Arial"/>
              </a:defRPr>
            </a:pPr>
            <a:r>
              <a:t>REQUIREMENTS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8324B"/>
                </a:solidFill>
                <a:latin typeface="Arial"/>
              </a:defRPr>
            </a:pPr>
            <a:r>
              <a:t>One repair workflow, three roles</a:t>
            </a:r>
          </a:p>
        </p:txBody>
      </p:sp>
      <p:pic>
        <p:nvPicPr>
          <p:cNvPr id="4" name="Picture 3" descr="slide_IV_09_repair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27" y="1691640"/>
            <a:ext cx="11064240" cy="16317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74920"/>
            <a:ext cx="10789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18324B"/>
                </a:solidFill>
                <a:latin typeface="Arial"/>
              </a:defRPr>
            </a:pPr>
            <a:r>
              <a:t>Customer requests service; admin approves, assigns and sets cost.</a:t>
            </a:r>
          </a:p>
          <a:p>
            <a:pPr>
              <a:spcAft>
                <a:spcPts val="1400"/>
              </a:spcAft>
              <a:defRPr sz="2000" b="0">
                <a:solidFill>
                  <a:srgbClr val="18324B"/>
                </a:solidFill>
                <a:latin typeface="Arial"/>
              </a:defRPr>
            </a:pPr>
            <a:r>
              <a:t>Mechanic updates progress; customer tracks status and views the bill.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332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167D8D"/>
                </a:solidFill>
                <a:latin typeface="Arial"/>
              </a:defRPr>
            </a:pPr>
            <a:r>
              <a:rPr dirty="0"/>
              <a:t>Vehicle Repair Management System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167D8D"/>
                </a:solidFill>
                <a:latin typeface="Arial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67D8D"/>
                </a:solidFill>
                <a:latin typeface="Arial"/>
              </a:defRPr>
            </a:pPr>
            <a:r>
              <a:t>LAYERED ARCHITECTURE | CLIENT–SERVER | MVC/MTV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8324B"/>
                </a:solidFill>
                <a:latin typeface="Arial"/>
              </a:defRPr>
            </a:pPr>
            <a:r>
              <a:t>Current design: one Django application</a:t>
            </a:r>
          </a:p>
        </p:txBody>
      </p:sp>
      <p:pic>
        <p:nvPicPr>
          <p:cNvPr id="4" name="Picture 3" descr="slide_III_01_layered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27" y="1691640"/>
            <a:ext cx="11064240" cy="19060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74920"/>
            <a:ext cx="10789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18324B"/>
                </a:solidFill>
                <a:latin typeface="Arial"/>
              </a:defRPr>
            </a:pPr>
            <a:r>
              <a:t>Browser sends requests; Django returns rendered HTML.</a:t>
            </a:r>
          </a:p>
          <a:p>
            <a:pPr>
              <a:spcAft>
                <a:spcPts val="1400"/>
              </a:spcAft>
              <a:defRPr sz="2000" b="0">
                <a:solidFill>
                  <a:srgbClr val="18324B"/>
                </a:solidFill>
                <a:latin typeface="Arial"/>
              </a:defRPr>
            </a:pPr>
            <a:r>
              <a:t>Templates display; views/forms handle requests; ORM accesses SQLite.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332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167D8D"/>
                </a:solidFill>
                <a:latin typeface="Arial"/>
              </a:defRPr>
            </a:pPr>
            <a:r>
              <a:rPr dirty="0"/>
              <a:t>Vehicle Repair Management System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167D8D"/>
                </a:solidFill>
                <a:latin typeface="Arial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67D8D"/>
                </a:solidFill>
                <a:latin typeface="Arial"/>
              </a:defRPr>
            </a:pPr>
            <a:r>
              <a:t>OBJECT MODEL → ORM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8324B"/>
                </a:solidFill>
                <a:latin typeface="Arial"/>
              </a:defRPr>
            </a:pPr>
            <a:r>
              <a:t>Data model and database relationships</a:t>
            </a:r>
          </a:p>
        </p:txBody>
      </p:sp>
      <p:pic>
        <p:nvPicPr>
          <p:cNvPr id="4" name="Picture 3" descr="slide_IV_08_database_e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6591" y="1691640"/>
            <a:ext cx="6698511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74920"/>
            <a:ext cx="10789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18324B"/>
                </a:solidFill>
                <a:latin typeface="Arial"/>
              </a:defRPr>
            </a:pPr>
            <a:r>
              <a:t>Customer and Mechanic each link to Django User.</a:t>
            </a:r>
          </a:p>
          <a:p>
            <a:pPr>
              <a:spcAft>
                <a:spcPts val="1400"/>
              </a:spcAft>
              <a:defRPr sz="2000" b="0">
                <a:solidFill>
                  <a:srgbClr val="18324B"/>
                </a:solidFill>
                <a:latin typeface="Arial"/>
              </a:defRPr>
            </a:pPr>
            <a:r>
              <a:t>Request stores vehicle details, status and cost; bills use Request.cost.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332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167D8D"/>
                </a:solidFill>
                <a:latin typeface="Arial"/>
              </a:defRPr>
            </a:pPr>
            <a:r>
              <a:rPr dirty="0"/>
              <a:t>Vehicle Repair Management System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167D8D"/>
                </a:solidFill>
                <a:latin typeface="Arial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67D8D"/>
                </a:solidFill>
                <a:latin typeface="Arial"/>
              </a:defRPr>
            </a:pPr>
            <a:r>
              <a:t>CURRENT HTML | PROPOSED REST, REACT AND HTMX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8324B"/>
                </a:solidFill>
                <a:latin typeface="Arial"/>
              </a:defRPr>
            </a:pPr>
            <a:r>
              <a:t>API and UI choices</a:t>
            </a:r>
          </a:p>
        </p:txBody>
      </p:sp>
      <p:pic>
        <p:nvPicPr>
          <p:cNvPr id="4" name="Picture 3" descr="slide_III_05_rest_api_gatew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27" y="1691640"/>
            <a:ext cx="11064240" cy="19060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74920"/>
            <a:ext cx="10789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18324B"/>
                </a:solidFill>
                <a:latin typeface="Arial"/>
              </a:defRPr>
            </a:pPr>
            <a:r>
              <a:t>Current: Django HTML forms. Proposed: /api/v1/repair-requests/.</a:t>
            </a:r>
          </a:p>
          <a:p>
            <a:pPr>
              <a:spcAft>
                <a:spcPts val="1400"/>
              </a:spcAft>
              <a:defRPr sz="2000" b="0">
                <a:solidFill>
                  <a:srgbClr val="18324B"/>
                </a:solidFill>
                <a:latin typeface="Arial"/>
              </a:defRPr>
            </a:pPr>
            <a:r>
              <a:t>GET reads · POST creates · PATCH updates · DELETE cancels eligible requests.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332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167D8D"/>
                </a:solidFill>
                <a:latin typeface="Arial"/>
              </a:defRPr>
            </a:pPr>
            <a:r>
              <a:rPr dirty="0"/>
              <a:t>Vehicle Repair Management System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167D8D"/>
                </a:solidFill>
                <a:latin typeface="Arial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67D8D"/>
                </a:solidFill>
                <a:latin typeface="Arial"/>
              </a:defRPr>
            </a:pPr>
            <a:r>
              <a:t>PROPOSED EVENT-DRIVEN DESIGN | SOA |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8324B"/>
                </a:solidFill>
                <a:latin typeface="Arial"/>
              </a:defRPr>
            </a:pPr>
            <a:r>
              <a:t>Service integration and events</a:t>
            </a:r>
          </a:p>
        </p:txBody>
      </p:sp>
      <p:pic>
        <p:nvPicPr>
          <p:cNvPr id="4" name="Picture 3" descr="slide_III_03_event_driv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27" y="1691640"/>
            <a:ext cx="11064240" cy="25342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74920"/>
            <a:ext cx="10789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18324B"/>
                </a:solidFill>
                <a:latin typeface="Arial"/>
              </a:defRPr>
            </a:pPr>
            <a:r>
              <a:t>After a committed repair update, an event can trigger a notification.</a:t>
            </a:r>
          </a:p>
          <a:p>
            <a:pPr>
              <a:spcAft>
                <a:spcPts val="1400"/>
              </a:spcAft>
              <a:defRPr sz="2000" b="0">
                <a:solidFill>
                  <a:srgbClr val="18324B"/>
                </a:solidFill>
                <a:latin typeface="Arial"/>
              </a:defRPr>
            </a:pPr>
            <a:r>
              <a:t>SOA uses clear service contracts; extract services only when justified.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332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167D8D"/>
                </a:solidFill>
                <a:latin typeface="Arial"/>
              </a:defRPr>
            </a:pPr>
            <a:r>
              <a:rPr dirty="0"/>
              <a:t>Vehicle Repair Management System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167D8D"/>
                </a:solidFill>
                <a:latin typeface="Arial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67D8D"/>
                </a:solidFill>
                <a:latin typeface="Arial"/>
              </a:defRPr>
            </a:pPr>
            <a:r>
              <a:t>PERFORMANCE | CACHING | DATABASE | CDN |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8324B"/>
                </a:solidFill>
                <a:latin typeface="Arial"/>
              </a:defRPr>
            </a:pPr>
            <a:r>
              <a:t>Scale gradually and protect repair data</a:t>
            </a:r>
          </a:p>
        </p:txBody>
      </p:sp>
      <p:pic>
        <p:nvPicPr>
          <p:cNvPr id="4" name="Picture 3" descr="slide_III_06_scaling_load_balanc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8085" y="1691640"/>
            <a:ext cx="8555524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74920"/>
            <a:ext cx="10789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18324B"/>
                </a:solidFill>
                <a:latin typeface="Arial"/>
              </a:defRPr>
            </a:pPr>
            <a:r>
              <a:t>First: reduce ORM queries, paginate lists and add suitable indexes.</a:t>
            </a:r>
          </a:p>
          <a:p>
            <a:pPr>
              <a:spcAft>
                <a:spcPts val="1400"/>
              </a:spcAft>
              <a:defRPr sz="2000" b="0">
                <a:solidFill>
                  <a:srgbClr val="18324B"/>
                </a:solidFill>
                <a:latin typeface="Arial"/>
              </a:defRPr>
            </a:pPr>
            <a:r>
              <a:t>Then: shared DB/cache, more app instances and CDN for public assets.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332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167D8D"/>
                </a:solidFill>
                <a:latin typeface="Arial"/>
              </a:defRPr>
            </a:pPr>
            <a:r>
              <a:rPr dirty="0"/>
              <a:t>Vehicle Repair Management System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167D8D"/>
                </a:solidFill>
                <a:latin typeface="Arial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67D8D"/>
                </a:solidFill>
                <a:latin typeface="Arial"/>
              </a:defRPr>
            </a:pPr>
            <a:r>
              <a:t>MVC/MTV TODAY | FIVE PROPOSED REFACTORINGS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8324B"/>
                </a:solidFill>
                <a:latin typeface="Arial"/>
              </a:defRPr>
            </a:pPr>
            <a:r>
              <a:t>Design patterns: simple repair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8324B"/>
                </a:solidFill>
                <a:latin typeface="Arial"/>
              </a:defRPr>
            </a:pPr>
            <a:r>
              <a:t>MVC / MTV — separate data, presentation and request handling.</a:t>
            </a:r>
          </a:p>
          <a:p>
            <a:pPr>
              <a:spcAft>
                <a:spcPts val="1400"/>
              </a:spcAft>
              <a:defRPr sz="2400" b="0">
                <a:solidFill>
                  <a:srgbClr val="18324B"/>
                </a:solidFill>
                <a:latin typeface="Arial"/>
              </a:defRPr>
            </a:pPr>
            <a:r>
              <a:t>Factory — create the estimator for a vehicle category.</a:t>
            </a:r>
          </a:p>
          <a:p>
            <a:pPr>
              <a:spcAft>
                <a:spcPts val="1400"/>
              </a:spcAft>
              <a:defRPr sz="2400" b="0">
                <a:solidFill>
                  <a:srgbClr val="18324B"/>
                </a:solidFill>
                <a:latin typeface="Arial"/>
              </a:defRPr>
            </a:pPr>
            <a:r>
              <a:t>Singleton — hold configuration once per process.</a:t>
            </a:r>
          </a:p>
          <a:p>
            <a:pPr>
              <a:spcAft>
                <a:spcPts val="1400"/>
              </a:spcAft>
              <a:defRPr sz="2400" b="0">
                <a:solidFill>
                  <a:srgbClr val="18324B"/>
                </a:solidFill>
                <a:latin typeface="Arial"/>
              </a:defRPr>
            </a:pPr>
            <a:r>
              <a:t>Adapter — wrap an external SMS or payment provider.</a:t>
            </a:r>
          </a:p>
          <a:p>
            <a:pPr>
              <a:spcAft>
                <a:spcPts val="1400"/>
              </a:spcAft>
              <a:defRPr sz="2400" b="0">
                <a:solidFill>
                  <a:srgbClr val="18324B"/>
                </a:solidFill>
                <a:latin typeface="Arial"/>
              </a:defRPr>
            </a:pPr>
            <a:r>
              <a:t>Observer — notify listeners when repair status changes.</a:t>
            </a:r>
          </a:p>
          <a:p>
            <a:pPr>
              <a:spcAft>
                <a:spcPts val="1400"/>
              </a:spcAft>
              <a:defRPr sz="2400" b="0">
                <a:solidFill>
                  <a:srgbClr val="18324B"/>
                </a:solidFill>
                <a:latin typeface="Arial"/>
              </a:defRPr>
            </a:pPr>
            <a:r>
              <a:t>Strategy — swap pricing rules for different vehicle types.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332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167D8D"/>
                </a:solidFill>
                <a:latin typeface="Arial"/>
              </a:defRPr>
            </a:pPr>
            <a:r>
              <a:rPr dirty="0"/>
              <a:t>Vehicle Repair Management </a:t>
            </a:r>
            <a:r>
              <a:t>System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167D8D"/>
                </a:solidFill>
                <a:latin typeface="Arial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67D8D"/>
                </a:solidFill>
                <a:latin typeface="Arial"/>
              </a:defRPr>
            </a:pPr>
            <a:r>
              <a:t>PROPOSED DEPLOYMENT &amp; CONTAINERIZATION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8324B"/>
                </a:solidFill>
                <a:latin typeface="Arial"/>
              </a:defRPr>
            </a:pPr>
            <a:r>
              <a:t>From local demo to production</a:t>
            </a:r>
          </a:p>
        </p:txBody>
      </p:sp>
      <p:pic>
        <p:nvPicPr>
          <p:cNvPr id="4" name="Picture 3" descr="slide_IV_12_deploy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87" y="1691640"/>
            <a:ext cx="967232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74920"/>
            <a:ext cx="10789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18324B"/>
                </a:solidFill>
                <a:latin typeface="Arial"/>
              </a:defRPr>
            </a:pPr>
            <a:r>
              <a:t>Today: Django runserver + SQLite. Proposed: proxy + app + shared services.</a:t>
            </a:r>
          </a:p>
          <a:p>
            <a:pPr>
              <a:spcAft>
                <a:spcPts val="1400"/>
              </a:spcAft>
              <a:defRPr sz="2000" b="0">
                <a:solidFill>
                  <a:srgbClr val="18324B"/>
                </a:solidFill>
                <a:latin typeface="Arial"/>
              </a:defRPr>
            </a:pPr>
            <a:r>
              <a:t>Build image → configure secrets → migrate → collect static → health check.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28232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167D8D"/>
                </a:solidFill>
                <a:latin typeface="Arial"/>
              </a:defRPr>
            </a:pPr>
            <a:r>
              <a:t>Vehicle Repair Management System  |  Abhay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167D8D"/>
                </a:solidFill>
                <a:latin typeface="Arial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67D8D"/>
                </a:solidFill>
                <a:latin typeface="Arial"/>
              </a:defRPr>
            </a:pPr>
            <a:r>
              <a:t>AI REVIEW | ADR-001 |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8324B"/>
                </a:solidFill>
                <a:latin typeface="Arial"/>
              </a:defRPr>
            </a:pPr>
            <a:r>
              <a:t>Design decision and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8324B"/>
                </a:solidFill>
                <a:latin typeface="Arial"/>
              </a:defRPr>
            </a:pPr>
            <a:r>
              <a:t>Decision: retain the Django monolith and HTML templates.</a:t>
            </a:r>
          </a:p>
          <a:p>
            <a:pPr>
              <a:spcAft>
                <a:spcPts val="1400"/>
              </a:spcAft>
              <a:defRPr sz="2400" b="0">
                <a:solidFill>
                  <a:srgbClr val="18324B"/>
                </a:solidFill>
                <a:latin typeface="Arial"/>
              </a:defRPr>
            </a:pPr>
            <a:r>
              <a:t>Reason: simple development and deployment for a small workshop.</a:t>
            </a:r>
          </a:p>
          <a:p>
            <a:pPr>
              <a:spcAft>
                <a:spcPts val="1400"/>
              </a:spcAft>
              <a:defRPr sz="2400" b="0">
                <a:solidFill>
                  <a:srgbClr val="18324B"/>
                </a:solidFill>
                <a:latin typeface="Arial"/>
              </a:defRPr>
            </a:pPr>
            <a:r>
              <a:t>Tradeoff: coupled scaling; revisit for mobile clients or growing load.</a:t>
            </a:r>
          </a:p>
          <a:p>
            <a:pPr>
              <a:spcAft>
                <a:spcPts val="1400"/>
              </a:spcAft>
              <a:defRPr sz="2400" b="0">
                <a:solidFill>
                  <a:srgbClr val="18324B"/>
                </a:solidFill>
                <a:latin typeface="Arial"/>
              </a:defRPr>
            </a:pPr>
            <a:r>
              <a:t>AI assists diagrams and reviews; verify claims against source code.</a:t>
            </a:r>
          </a:p>
          <a:p>
            <a:pPr>
              <a:spcAft>
                <a:spcPts val="1400"/>
              </a:spcAft>
              <a:defRPr sz="2400" b="0">
                <a:solidFill>
                  <a:srgbClr val="18324B"/>
                </a:solidFill>
                <a:latin typeface="Arial"/>
              </a:defRPr>
            </a:pPr>
            <a:r>
              <a:t>Demo: submit → approve &amp; assign → repair update → view bill.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28232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167D8D"/>
                </a:solidFill>
                <a:latin typeface="Arial"/>
              </a:defRPr>
            </a:pPr>
            <a:r>
              <a:t>Vehicle Repair Management System  |  Abhay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167D8D"/>
                </a:solidFill>
                <a:latin typeface="Arial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1178</Words>
  <Application>Microsoft Office PowerPoint</Application>
  <PresentationFormat>Widescreen</PresentationFormat>
  <Paragraphs>82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Abhay Bormale</cp:lastModifiedBy>
  <cp:revision>1</cp:revision>
  <dcterms:created xsi:type="dcterms:W3CDTF">2013-01-27T09:14:16Z</dcterms:created>
  <dcterms:modified xsi:type="dcterms:W3CDTF">2026-10-20T17:25:47Z</dcterms:modified>
  <cp:category/>
</cp:coreProperties>
</file>